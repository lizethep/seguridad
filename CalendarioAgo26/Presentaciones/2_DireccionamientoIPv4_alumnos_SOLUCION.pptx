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6"/>
  </p:notesMasterIdLst>
  <p:sldIdLst>
    <p:sldId id="278" r:id="rId2"/>
    <p:sldId id="270" r:id="rId3"/>
    <p:sldId id="304" r:id="rId4"/>
    <p:sldId id="305" r:id="rId5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E2200"/>
    <a:srgbClr val="050A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59F4705E-2A32-4DA2-8EEA-C9EF51589097}" v="3" dt="2026-08-10T00:56:19.52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62" autoAdjust="0"/>
    <p:restoredTop sz="92819" autoAdjust="0"/>
  </p:normalViewPr>
  <p:slideViewPr>
    <p:cSldViewPr>
      <p:cViewPr varScale="1">
        <p:scale>
          <a:sx n="115" d="100"/>
          <a:sy n="115" d="100"/>
        </p:scale>
        <p:origin x="1494" y="10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12" Type="http://schemas.microsoft.com/office/2015/10/relationships/revisionInfo" Target="revisionInfo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microsoft.com/office/2016/11/relationships/changesInfo" Target="changesInfos/changesInfo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izethe Pérez Fuertes" userId="4ae9ef87-2a7d-42f8-8dfa-0a501a9e2ff4" providerId="ADAL" clId="{FDDD45CB-1330-4033-A842-3D2746AFF7C7}"/>
    <pc:docChg chg="custSel modSld">
      <pc:chgData name="Lizethe Pérez Fuertes" userId="4ae9ef87-2a7d-42f8-8dfa-0a501a9e2ff4" providerId="ADAL" clId="{FDDD45CB-1330-4033-A842-3D2746AFF7C7}" dt="2026-08-10T00:58:42.925" v="136" actId="6549"/>
      <pc:docMkLst>
        <pc:docMk/>
      </pc:docMkLst>
      <pc:sldChg chg="modSp mod">
        <pc:chgData name="Lizethe Pérez Fuertes" userId="4ae9ef87-2a7d-42f8-8dfa-0a501a9e2ff4" providerId="ADAL" clId="{FDDD45CB-1330-4033-A842-3D2746AFF7C7}" dt="2026-08-10T00:58:42.925" v="136" actId="6549"/>
        <pc:sldMkLst>
          <pc:docMk/>
          <pc:sldMk cId="1515272197" sldId="304"/>
        </pc:sldMkLst>
        <pc:graphicFrameChg chg="mod modGraphic">
          <ac:chgData name="Lizethe Pérez Fuertes" userId="4ae9ef87-2a7d-42f8-8dfa-0a501a9e2ff4" providerId="ADAL" clId="{FDDD45CB-1330-4033-A842-3D2746AFF7C7}" dt="2026-08-10T00:58:42.925" v="136" actId="6549"/>
          <ac:graphicFrameMkLst>
            <pc:docMk/>
            <pc:sldMk cId="1515272197" sldId="304"/>
            <ac:graphicFrameMk id="4" creationId="{E8EB963D-A592-29D6-881E-30FF03114551}"/>
          </ac:graphicFrameMkLst>
        </pc:graphicFrame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09/08/2026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6723541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22961644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39807528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09/08/2026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09/08/2026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09/08/2026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09/08/2026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09/08/2026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09/08/2026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09/08/2026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09/08/2026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‹Nº›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1835695" y="1543858"/>
            <a:ext cx="5832649" cy="73866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algn="ctr">
              <a:lnSpc>
                <a:spcPct val="100000"/>
              </a:lnSpc>
            </a:pPr>
            <a:r>
              <a:rPr sz="2400" b="1" spc="-2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sz="2400" b="1" spc="-12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qué c</a:t>
            </a:r>
            <a:r>
              <a:rPr sz="2400" b="1" spc="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ase</a:t>
            </a:r>
            <a:r>
              <a:rPr sz="2400" b="1" spc="-2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perten</a:t>
            </a:r>
            <a:r>
              <a:rPr sz="2400" b="1" spc="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r>
              <a:rPr sz="2400" b="1" spc="-1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sz="2400" b="1" spc="-4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las</a:t>
            </a:r>
            <a:r>
              <a:rPr sz="2400" b="1" spc="-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sigu</a:t>
            </a:r>
            <a:r>
              <a:rPr sz="2400" b="1" spc="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ent</a:t>
            </a:r>
            <a:r>
              <a:rPr sz="2400" b="1" spc="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400" b="1" spc="-3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</a:t>
            </a:r>
            <a:r>
              <a:rPr sz="2400" b="1" spc="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ecc</a:t>
            </a:r>
            <a:r>
              <a:rPr sz="2400" b="1" spc="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on</a:t>
            </a:r>
            <a:r>
              <a:rPr sz="2400" b="1" spc="-1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</a:t>
            </a:r>
            <a:r>
              <a:rPr sz="2400" b="1" spc="-25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</a:t>
            </a:r>
            <a:r>
              <a:rPr sz="2400" b="1" spc="-1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red?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102298"/>
              </p:ext>
            </p:extLst>
          </p:nvPr>
        </p:nvGraphicFramePr>
        <p:xfrm>
          <a:off x="2327906" y="2614021"/>
          <a:ext cx="4848225" cy="274320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31228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3593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69900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Di</a:t>
                      </a:r>
                      <a:r>
                        <a:rPr sz="2400" b="1" spc="-5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r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ección</a:t>
                      </a:r>
                      <a:r>
                        <a:rPr sz="2400" b="1" spc="-30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IPv4</a:t>
                      </a:r>
                      <a:endParaRPr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solidFill>
                            <a:srgbClr val="FFFFFF"/>
                          </a:solidFill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Clase</a:t>
                      </a:r>
                      <a:endParaRPr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4500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127. 0. 0. 0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65. 0. 0. 0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2400" b="1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192</a:t>
                      </a:r>
                      <a:r>
                        <a:rPr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sz="2400" b="1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</a:t>
                      </a:r>
                      <a:r>
                        <a:rPr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sz="2400" b="1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0</a:t>
                      </a:r>
                      <a:r>
                        <a:rPr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.</a:t>
                      </a:r>
                      <a:r>
                        <a:rPr sz="2400" b="1" spc="-5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 </a:t>
                      </a:r>
                      <a:r>
                        <a:rPr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C</a:t>
                      </a:r>
                      <a:endParaRPr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172. 16. 0. 0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7200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2400" b="1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225. 255. 254. 245</a:t>
                      </a: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400" dirty="0"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D</a:t>
                      </a:r>
                      <a:endParaRPr sz="24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7" name="Rectangle 2">
            <a:extLst>
              <a:ext uri="{FF2B5EF4-FFF2-40B4-BE49-F238E27FC236}">
                <a16:creationId xmlns:a16="http://schemas.microsoft.com/office/drawing/2014/main" id="{BA5025F5-7064-40D8-BCFF-4572274632F8}"/>
              </a:ext>
            </a:extLst>
          </p:cNvPr>
          <p:cNvSpPr txBox="1">
            <a:spLocks noChangeArrowheads="1"/>
          </p:cNvSpPr>
          <p:nvPr/>
        </p:nvSpPr>
        <p:spPr>
          <a:xfrm>
            <a:off x="144016" y="44624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6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6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Ejercicio de clase</a:t>
            </a:r>
          </a:p>
        </p:txBody>
      </p:sp>
      <p:sp>
        <p:nvSpPr>
          <p:cNvPr id="2" name="CuadroTexto 1">
            <a:extLst>
              <a:ext uri="{FF2B5EF4-FFF2-40B4-BE49-F238E27FC236}">
                <a16:creationId xmlns:a16="http://schemas.microsoft.com/office/drawing/2014/main" id="{C4EF4536-84F0-4343-B7F8-DCAA1B7A2EED}"/>
              </a:ext>
            </a:extLst>
          </p:cNvPr>
          <p:cNvSpPr txBox="1"/>
          <p:nvPr/>
        </p:nvSpPr>
        <p:spPr>
          <a:xfrm>
            <a:off x="2267743" y="5688720"/>
            <a:ext cx="590465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s-ES" dirty="0"/>
              <a:t>El primer byte nos dice la clase a la que pertenece.</a:t>
            </a:r>
            <a:endParaRPr lang="es-MX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688338" y="116632"/>
            <a:ext cx="7622540" cy="682622"/>
          </a:xfrm>
          <a:prstGeom prst="rect">
            <a:avLst/>
          </a:prstGeom>
        </p:spPr>
        <p:txBody>
          <a:bodyPr vert="horz" wrap="square" lIns="0" tIns="188340" rIns="0" bIns="0" rtlCol="0">
            <a:spAutoFit/>
          </a:bodyPr>
          <a:lstStyle/>
          <a:p>
            <a:pPr>
              <a:lnSpc>
                <a:spcPct val="100000"/>
              </a:lnSpc>
            </a:pPr>
            <a:r>
              <a:rPr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Direcciones</a:t>
            </a:r>
            <a:r>
              <a:rPr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de b</a:t>
            </a:r>
            <a:r>
              <a:rPr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roadcast</a:t>
            </a:r>
            <a:endParaRPr sz="32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88338" y="1242329"/>
            <a:ext cx="7622540" cy="123110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000" spc="-5" dirty="0">
                <a:cs typeface="Times New Roman"/>
              </a:rPr>
              <a:t>L</a:t>
            </a:r>
            <a:r>
              <a:rPr sz="2000" dirty="0">
                <a:cs typeface="Times New Roman"/>
              </a:rPr>
              <a:t>a </a:t>
            </a:r>
            <a:r>
              <a:rPr sz="2000" spc="-20" dirty="0">
                <a:cs typeface="Times New Roman"/>
              </a:rPr>
              <a:t> </a:t>
            </a:r>
            <a:r>
              <a:rPr sz="2000" b="1" spc="-15" dirty="0">
                <a:cs typeface="Times New Roman"/>
              </a:rPr>
              <a:t>d</a:t>
            </a:r>
            <a:r>
              <a:rPr sz="2000" b="1" dirty="0">
                <a:cs typeface="Times New Roman"/>
              </a:rPr>
              <a:t>irec</a:t>
            </a:r>
            <a:r>
              <a:rPr sz="2000" b="1" spc="-10" dirty="0">
                <a:cs typeface="Times New Roman"/>
              </a:rPr>
              <a:t>c</a:t>
            </a:r>
            <a:r>
              <a:rPr sz="2000" b="1" dirty="0">
                <a:cs typeface="Times New Roman"/>
              </a:rPr>
              <a:t>i</a:t>
            </a:r>
            <a:r>
              <a:rPr sz="2000" b="1" spc="-10" dirty="0">
                <a:cs typeface="Times New Roman"/>
              </a:rPr>
              <a:t>ó</a:t>
            </a:r>
            <a:r>
              <a:rPr sz="2000" b="1" dirty="0">
                <a:cs typeface="Times New Roman"/>
              </a:rPr>
              <a:t>n </a:t>
            </a:r>
            <a:r>
              <a:rPr sz="2000" b="1" spc="-25" dirty="0">
                <a:cs typeface="Times New Roman"/>
              </a:rPr>
              <a:t> </a:t>
            </a:r>
            <a:r>
              <a:rPr sz="2000" b="1" dirty="0">
                <a:cs typeface="Times New Roman"/>
              </a:rPr>
              <a:t>broa</a:t>
            </a:r>
            <a:r>
              <a:rPr sz="2000" b="1" spc="-15" dirty="0">
                <a:cs typeface="Times New Roman"/>
              </a:rPr>
              <a:t>d</a:t>
            </a:r>
            <a:r>
              <a:rPr sz="2000" b="1" dirty="0">
                <a:cs typeface="Times New Roman"/>
              </a:rPr>
              <a:t>cast </a:t>
            </a:r>
            <a:r>
              <a:rPr sz="2000" b="1" spc="-3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de </a:t>
            </a:r>
            <a:r>
              <a:rPr sz="2000" spc="-2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u</a:t>
            </a:r>
            <a:r>
              <a:rPr sz="2000" spc="-15" dirty="0">
                <a:cs typeface="Times New Roman"/>
              </a:rPr>
              <a:t>n</a:t>
            </a:r>
            <a:r>
              <a:rPr sz="2000" dirty="0">
                <a:cs typeface="Times New Roman"/>
              </a:rPr>
              <a:t>a </a:t>
            </a:r>
            <a:r>
              <a:rPr sz="2000" spc="-25" dirty="0">
                <a:cs typeface="Times New Roman"/>
              </a:rPr>
              <a:t> </a:t>
            </a:r>
            <a:r>
              <a:rPr sz="2000" b="1" spc="-15" dirty="0" err="1">
                <a:cs typeface="Times New Roman"/>
              </a:rPr>
              <a:t>d</a:t>
            </a:r>
            <a:r>
              <a:rPr sz="2000" b="1" dirty="0" err="1">
                <a:cs typeface="Times New Roman"/>
              </a:rPr>
              <a:t>irec</a:t>
            </a:r>
            <a:r>
              <a:rPr sz="2000" b="1" spc="-10" dirty="0" err="1">
                <a:cs typeface="Times New Roman"/>
              </a:rPr>
              <a:t>c</a:t>
            </a:r>
            <a:r>
              <a:rPr sz="2000" b="1" dirty="0" err="1">
                <a:cs typeface="Times New Roman"/>
              </a:rPr>
              <a:t>ión</a:t>
            </a:r>
            <a:r>
              <a:rPr sz="2000" b="1" dirty="0">
                <a:cs typeface="Times New Roman"/>
              </a:rPr>
              <a:t> </a:t>
            </a:r>
            <a:r>
              <a:rPr sz="2000" b="1" spc="-30" dirty="0">
                <a:cs typeface="Times New Roman"/>
              </a:rPr>
              <a:t> </a:t>
            </a:r>
            <a:r>
              <a:rPr lang="es-MX" sz="2000" b="1" dirty="0">
                <a:cs typeface="Times New Roman"/>
              </a:rPr>
              <a:t>de red</a:t>
            </a:r>
            <a:r>
              <a:rPr sz="2000" b="1" dirty="0">
                <a:cs typeface="Times New Roman"/>
              </a:rPr>
              <a:t> </a:t>
            </a:r>
            <a:r>
              <a:rPr sz="2000" b="1" spc="-2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se </a:t>
            </a:r>
            <a:r>
              <a:rPr sz="2000" spc="-2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for</a:t>
            </a:r>
            <a:r>
              <a:rPr sz="2000" spc="-25" dirty="0">
                <a:cs typeface="Times New Roman"/>
              </a:rPr>
              <a:t>m</a:t>
            </a:r>
            <a:r>
              <a:rPr sz="2000" dirty="0">
                <a:cs typeface="Times New Roman"/>
              </a:rPr>
              <a:t>a </a:t>
            </a:r>
            <a:r>
              <a:rPr sz="2000" spc="-25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al </a:t>
            </a:r>
            <a:r>
              <a:rPr sz="2000" dirty="0">
                <a:cs typeface="Times New Roman"/>
              </a:rPr>
              <a:t>cop</a:t>
            </a:r>
            <a:r>
              <a:rPr sz="2000" spc="-10" dirty="0">
                <a:cs typeface="Times New Roman"/>
              </a:rPr>
              <a:t>i</a:t>
            </a:r>
            <a:r>
              <a:rPr sz="2000" dirty="0">
                <a:cs typeface="Times New Roman"/>
              </a:rPr>
              <a:t>a</a:t>
            </a:r>
            <a:r>
              <a:rPr sz="2000" spc="-95" dirty="0">
                <a:cs typeface="Times New Roman"/>
              </a:rPr>
              <a:t>r</a:t>
            </a:r>
            <a:r>
              <a:rPr sz="2000" dirty="0">
                <a:cs typeface="Times New Roman"/>
              </a:rPr>
              <a:t>, de</a:t>
            </a:r>
            <a:r>
              <a:rPr sz="2000" spc="-15" dirty="0">
                <a:cs typeface="Times New Roman"/>
              </a:rPr>
              <a:t>p</a:t>
            </a:r>
            <a:r>
              <a:rPr sz="2000" spc="-10" dirty="0">
                <a:cs typeface="Times New Roman"/>
              </a:rPr>
              <a:t>e</a:t>
            </a:r>
            <a:r>
              <a:rPr sz="2000" dirty="0">
                <a:cs typeface="Times New Roman"/>
              </a:rPr>
              <a:t>ndiendo</a:t>
            </a:r>
            <a:r>
              <a:rPr sz="2000" spc="-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la</a:t>
            </a:r>
            <a:r>
              <a:rPr sz="2000" spc="-15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c</a:t>
            </a:r>
            <a:r>
              <a:rPr sz="2000" dirty="0">
                <a:cs typeface="Times New Roman"/>
              </a:rPr>
              <a:t>lase</a:t>
            </a:r>
            <a:r>
              <a:rPr sz="2000" spc="-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</a:t>
            </a:r>
            <a:r>
              <a:rPr sz="2000" spc="-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la q</a:t>
            </a:r>
            <a:r>
              <a:rPr sz="2000" spc="-15" dirty="0">
                <a:cs typeface="Times New Roman"/>
              </a:rPr>
              <a:t>u</a:t>
            </a:r>
            <a:r>
              <a:rPr sz="2000" dirty="0">
                <a:cs typeface="Times New Roman"/>
              </a:rPr>
              <a:t>e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perten</a:t>
            </a:r>
            <a:r>
              <a:rPr sz="2000" spc="-15" dirty="0">
                <a:cs typeface="Times New Roman"/>
              </a:rPr>
              <a:t>e</a:t>
            </a:r>
            <a:r>
              <a:rPr sz="2000" dirty="0">
                <a:cs typeface="Times New Roman"/>
              </a:rPr>
              <a:t>ce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la</a:t>
            </a:r>
            <a:r>
              <a:rPr sz="2000" spc="-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direc</a:t>
            </a:r>
            <a:r>
              <a:rPr sz="2000" spc="-15" dirty="0">
                <a:cs typeface="Times New Roman"/>
              </a:rPr>
              <a:t>c</a:t>
            </a:r>
            <a:r>
              <a:rPr sz="2000" dirty="0">
                <a:cs typeface="Times New Roman"/>
              </a:rPr>
              <a:t>ión I</a:t>
            </a:r>
            <a:r>
              <a:rPr sz="2000" spc="-280" dirty="0">
                <a:cs typeface="Times New Roman"/>
              </a:rPr>
              <a:t>P</a:t>
            </a:r>
            <a:r>
              <a:rPr sz="2000" dirty="0">
                <a:cs typeface="Times New Roman"/>
              </a:rPr>
              <a:t>, los</a:t>
            </a:r>
            <a:r>
              <a:rPr sz="2000" spc="6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valores</a:t>
            </a:r>
            <a:r>
              <a:rPr sz="2000" spc="60" dirty="0">
                <a:cs typeface="Times New Roman"/>
              </a:rPr>
              <a:t> </a:t>
            </a:r>
            <a:r>
              <a:rPr sz="2000" spc="-15" dirty="0">
                <a:cs typeface="Times New Roman"/>
              </a:rPr>
              <a:t>d</a:t>
            </a:r>
            <a:r>
              <a:rPr sz="2000" dirty="0">
                <a:cs typeface="Times New Roman"/>
              </a:rPr>
              <a:t>e</a:t>
            </a:r>
            <a:r>
              <a:rPr sz="2000" spc="6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los</a:t>
            </a:r>
            <a:r>
              <a:rPr sz="2000" spc="65" dirty="0">
                <a:cs typeface="Times New Roman"/>
              </a:rPr>
              <a:t> </a:t>
            </a:r>
            <a:r>
              <a:rPr sz="2000" b="1" dirty="0">
                <a:highlight>
                  <a:srgbClr val="FFFF00"/>
                </a:highlight>
                <a:cs typeface="Times New Roman"/>
              </a:rPr>
              <a:t>Bytes</a:t>
            </a:r>
            <a:r>
              <a:rPr sz="2000" b="1" spc="60" dirty="0">
                <a:highlight>
                  <a:srgbClr val="FFFF00"/>
                </a:highlight>
                <a:cs typeface="Times New Roman"/>
              </a:rPr>
              <a:t> </a:t>
            </a:r>
            <a:r>
              <a:rPr sz="2000" b="1" dirty="0">
                <a:highlight>
                  <a:srgbClr val="FFFF00"/>
                </a:highlight>
                <a:cs typeface="Times New Roman"/>
              </a:rPr>
              <a:t>de</a:t>
            </a:r>
            <a:r>
              <a:rPr sz="2000" b="1" spc="70" dirty="0">
                <a:highlight>
                  <a:srgbClr val="FFFF00"/>
                </a:highlight>
                <a:cs typeface="Times New Roman"/>
              </a:rPr>
              <a:t> </a:t>
            </a:r>
            <a:r>
              <a:rPr sz="2000" b="1" dirty="0">
                <a:highlight>
                  <a:srgbClr val="FFFF00"/>
                </a:highlight>
                <a:cs typeface="Times New Roman"/>
              </a:rPr>
              <a:t>reser</a:t>
            </a:r>
            <a:r>
              <a:rPr sz="2000" b="1" spc="-10" dirty="0">
                <a:highlight>
                  <a:srgbClr val="FFFF00"/>
                </a:highlight>
                <a:cs typeface="Times New Roman"/>
              </a:rPr>
              <a:t>v</a:t>
            </a:r>
            <a:r>
              <a:rPr sz="2000" b="1" dirty="0">
                <a:highlight>
                  <a:srgbClr val="FFFF00"/>
                </a:highlight>
                <a:cs typeface="Times New Roman"/>
              </a:rPr>
              <a:t>a</a:t>
            </a:r>
            <a:r>
              <a:rPr sz="2000" b="1" spc="75" dirty="0">
                <a:highlight>
                  <a:srgbClr val="FFFF00"/>
                </a:highlight>
                <a:cs typeface="Times New Roman"/>
              </a:rPr>
              <a:t> </a:t>
            </a:r>
            <a:r>
              <a:rPr sz="2000" dirty="0">
                <a:cs typeface="Times New Roman"/>
              </a:rPr>
              <a:t>y</a:t>
            </a:r>
            <a:r>
              <a:rPr sz="2000" spc="6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</a:t>
            </a:r>
            <a:r>
              <a:rPr sz="2000" spc="-10" dirty="0">
                <a:cs typeface="Times New Roman"/>
              </a:rPr>
              <a:t>s</a:t>
            </a:r>
            <a:r>
              <a:rPr sz="2000" dirty="0">
                <a:cs typeface="Times New Roman"/>
              </a:rPr>
              <a:t>ignar</a:t>
            </a:r>
            <a:r>
              <a:rPr sz="2000" spc="70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e</a:t>
            </a:r>
            <a:r>
              <a:rPr sz="2000" dirty="0">
                <a:cs typeface="Times New Roman"/>
              </a:rPr>
              <a:t>l</a:t>
            </a:r>
            <a:r>
              <a:rPr sz="2000" spc="60" dirty="0">
                <a:cs typeface="Times New Roman"/>
              </a:rPr>
              <a:t> </a:t>
            </a:r>
            <a:r>
              <a:rPr sz="2000" spc="-15" dirty="0">
                <a:cs typeface="Times New Roman"/>
              </a:rPr>
              <a:t>v</a:t>
            </a:r>
            <a:r>
              <a:rPr sz="2000" dirty="0">
                <a:cs typeface="Times New Roman"/>
              </a:rPr>
              <a:t>alor</a:t>
            </a:r>
            <a:r>
              <a:rPr sz="2000" spc="75" dirty="0">
                <a:cs typeface="Times New Roman"/>
              </a:rPr>
              <a:t> </a:t>
            </a:r>
            <a:r>
              <a:rPr sz="2000" spc="-15" dirty="0">
                <a:cs typeface="Times New Roman"/>
              </a:rPr>
              <a:t>d</a:t>
            </a:r>
            <a:r>
              <a:rPr sz="2000" dirty="0">
                <a:cs typeface="Times New Roman"/>
              </a:rPr>
              <a:t>e</a:t>
            </a:r>
            <a:r>
              <a:rPr sz="2000" spc="7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255</a:t>
            </a:r>
            <a:r>
              <a:rPr sz="2000" spc="6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 los</a:t>
            </a:r>
            <a:r>
              <a:rPr sz="2000" spc="-5" dirty="0">
                <a:cs typeface="Times New Roman"/>
              </a:rPr>
              <a:t> </a:t>
            </a:r>
            <a:r>
              <a:rPr lang="es-ES" sz="2000" spc="-5" dirty="0">
                <a:cs typeface="Times New Roman"/>
              </a:rPr>
              <a:t>b</a:t>
            </a:r>
            <a:r>
              <a:rPr sz="2000" dirty="0" err="1">
                <a:cs typeface="Times New Roman"/>
              </a:rPr>
              <a:t>ytes</a:t>
            </a:r>
            <a:r>
              <a:rPr sz="2000" dirty="0">
                <a:cs typeface="Times New Roman"/>
              </a:rPr>
              <a:t> que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se encuen</a:t>
            </a:r>
            <a:r>
              <a:rPr sz="2000" spc="5" dirty="0">
                <a:cs typeface="Times New Roman"/>
              </a:rPr>
              <a:t>t</a:t>
            </a:r>
            <a:r>
              <a:rPr sz="2000" dirty="0">
                <a:cs typeface="Times New Roman"/>
              </a:rPr>
              <a:t>ran</a:t>
            </a:r>
            <a:r>
              <a:rPr sz="2000" spc="-2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a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la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derecha</a:t>
            </a:r>
            <a:r>
              <a:rPr sz="2000" spc="-1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de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los</a:t>
            </a:r>
            <a:r>
              <a:rPr sz="2000" spc="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de</a:t>
            </a:r>
            <a:r>
              <a:rPr sz="2000" spc="-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r</a:t>
            </a:r>
            <a:r>
              <a:rPr sz="2000" spc="5" dirty="0">
                <a:cs typeface="Times New Roman"/>
              </a:rPr>
              <a:t>e</a:t>
            </a:r>
            <a:r>
              <a:rPr sz="2000" dirty="0">
                <a:cs typeface="Times New Roman"/>
              </a:rPr>
              <a:t>s</a:t>
            </a:r>
            <a:r>
              <a:rPr sz="2000" spc="5" dirty="0">
                <a:cs typeface="Times New Roman"/>
              </a:rPr>
              <a:t>e</a:t>
            </a:r>
            <a:r>
              <a:rPr sz="2000" dirty="0">
                <a:cs typeface="Times New Roman"/>
              </a:rPr>
              <a:t>r</a:t>
            </a:r>
            <a:r>
              <a:rPr sz="2000" spc="5" dirty="0">
                <a:cs typeface="Times New Roman"/>
              </a:rPr>
              <a:t>v</a:t>
            </a:r>
            <a:r>
              <a:rPr sz="2000" spc="-5" dirty="0">
                <a:cs typeface="Times New Roman"/>
              </a:rPr>
              <a:t>a</a:t>
            </a:r>
            <a:r>
              <a:rPr sz="2000" dirty="0">
                <a:cs typeface="Times New Roman"/>
              </a:rPr>
              <a:t>.</a:t>
            </a: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644234"/>
              </p:ext>
            </p:extLst>
          </p:nvPr>
        </p:nvGraphicFramePr>
        <p:xfrm>
          <a:off x="721957" y="2846477"/>
          <a:ext cx="7700086" cy="2857244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37084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0597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41375">
                  <a:extLst>
                    <a:ext uri="{9D8B030D-6E8A-4147-A177-3AD203B41FA5}">
                      <a16:colId xmlns:a16="http://schemas.microsoft.com/office/drawing/2014/main" val="158281259"/>
                    </a:ext>
                  </a:extLst>
                </a:gridCol>
                <a:gridCol w="3081890">
                  <a:extLst>
                    <a:ext uri="{9D8B030D-6E8A-4147-A177-3AD203B41FA5}">
                      <a16:colId xmlns:a16="http://schemas.microsoft.com/office/drawing/2014/main" val="2714721413"/>
                    </a:ext>
                  </a:extLst>
                </a:gridCol>
              </a:tblGrid>
              <a:tr h="575043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1800" b="1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Di</a:t>
                      </a:r>
                      <a:r>
                        <a:rPr sz="1800" b="1" spc="-35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r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e</a:t>
                      </a:r>
                      <a:r>
                        <a:rPr sz="1800" b="1" spc="5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c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c</a:t>
                      </a:r>
                      <a:r>
                        <a:rPr sz="1800" b="1" spc="5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i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ón</a:t>
                      </a:r>
                      <a:r>
                        <a:rPr sz="1800" b="1" spc="-20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1800" b="1" spc="-5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IP</a:t>
                      </a:r>
                      <a:r>
                        <a:rPr lang="es-ES" sz="1800" b="1" spc="-5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 Red</a:t>
                      </a:r>
                      <a:endParaRPr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lang="es-MX" sz="18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Clase</a:t>
                      </a:r>
                      <a:endParaRPr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lang="es-MX" sz="18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Máscara de subred</a:t>
                      </a:r>
                      <a:endParaRPr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Dir</a:t>
                      </a:r>
                      <a:r>
                        <a:rPr lang="es-ES" sz="1800" b="1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ección</a:t>
                      </a:r>
                      <a:r>
                        <a:rPr lang="es-ES" sz="18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 de</a:t>
                      </a:r>
                      <a:r>
                        <a:rPr sz="1800" b="1" spc="-40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lang="es-ES" sz="1800" b="1" spc="-40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b</a:t>
                      </a:r>
                      <a:r>
                        <a:rPr sz="1800" b="1" spc="-35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r</a:t>
                      </a:r>
                      <a:r>
                        <a:rPr sz="1800" b="1" dirty="0" err="1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oadcast</a:t>
                      </a:r>
                      <a:endParaRPr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67948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Times New Roman"/>
                        </a:rPr>
                        <a:t>129. 10. 0. 0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 dirty="0">
                          <a:latin typeface="+mn-lt"/>
                          <a:cs typeface="Times New Roman"/>
                        </a:rPr>
                        <a:t>B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>
                          <a:latin typeface="+mn-lt"/>
                          <a:cs typeface="Times New Roman"/>
                        </a:rPr>
                        <a:t>255.255.0.0</a:t>
                      </a:r>
                      <a:endParaRPr lang="es-MX"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>
                          <a:latin typeface="+mn-lt"/>
                          <a:cs typeface="Times New Roman"/>
                        </a:rPr>
                        <a:t>129.10.255.255</a:t>
                      </a:r>
                      <a:endParaRPr lang="es-MX"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7764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Times New Roman"/>
                        </a:rPr>
                        <a:t>68. 0.</a:t>
                      </a:r>
                      <a:r>
                        <a:rPr sz="1800" b="1" spc="-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+mn-lt"/>
                          <a:cs typeface="Times New Roman"/>
                        </a:rPr>
                        <a:t>0.</a:t>
                      </a:r>
                      <a:r>
                        <a:rPr sz="1800" b="1" spc="-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+mn-lt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>
                          <a:latin typeface="+mn-lt"/>
                          <a:cs typeface="Times New Roman"/>
                        </a:rPr>
                        <a:t>A</a:t>
                      </a:r>
                      <a:endParaRPr lang="es-MX"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>
                          <a:latin typeface="+mn-lt"/>
                          <a:cs typeface="Times New Roman"/>
                        </a:rPr>
                        <a:t>255.0.0.0</a:t>
                      </a:r>
                      <a:endParaRPr lang="es-MX"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MX" sz="1800">
                          <a:latin typeface="+mn-lt"/>
                          <a:cs typeface="Times New Roman"/>
                        </a:rPr>
                        <a:t>68.255.255.255</a:t>
                      </a:r>
                      <a:endParaRPr lang="es-MX"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8313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Times New Roman"/>
                        </a:rPr>
                        <a:t>195.</a:t>
                      </a:r>
                      <a:r>
                        <a:rPr sz="1800" b="1" spc="-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+mn-lt"/>
                          <a:cs typeface="Times New Roman"/>
                        </a:rPr>
                        <a:t>79.</a:t>
                      </a:r>
                      <a:r>
                        <a:rPr sz="1800" b="1" spc="-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+mn-lt"/>
                          <a:cs typeface="Times New Roman"/>
                        </a:rPr>
                        <a:t>1.</a:t>
                      </a:r>
                      <a:r>
                        <a:rPr sz="1800" b="1" spc="-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+mn-lt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>
                          <a:latin typeface="+mn-lt"/>
                          <a:cs typeface="Times New Roman"/>
                        </a:rPr>
                        <a:t>C</a:t>
                      </a:r>
                      <a:endParaRPr lang="es-MX"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>
                          <a:latin typeface="+mn-lt"/>
                          <a:cs typeface="Times New Roman"/>
                        </a:rPr>
                        <a:t>255.255.255.0</a:t>
                      </a:r>
                      <a:endParaRPr lang="es-MX"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>
                          <a:latin typeface="+mn-lt"/>
                          <a:cs typeface="Times New Roman"/>
                        </a:rPr>
                        <a:t>195.79.1.255.255</a:t>
                      </a:r>
                      <a:endParaRPr lang="es-MX"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4153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Times New Roman"/>
                        </a:rPr>
                        <a:t>130. 0. 0. 0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>
                          <a:latin typeface="+mn-lt"/>
                          <a:cs typeface="Times New Roman"/>
                        </a:rPr>
                        <a:t>B</a:t>
                      </a:r>
                      <a:endParaRPr lang="es-MX"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>
                          <a:latin typeface="+mn-lt"/>
                          <a:cs typeface="Times New Roman"/>
                        </a:rPr>
                        <a:t>255.255.0.0</a:t>
                      </a:r>
                      <a:endParaRPr lang="es-MX"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>
                          <a:latin typeface="+mn-lt"/>
                          <a:cs typeface="Times New Roman"/>
                        </a:rPr>
                        <a:t>130.0.255.255</a:t>
                      </a:r>
                      <a:endParaRPr lang="es-MX"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84023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1800" b="1" dirty="0">
                          <a:latin typeface="+mn-lt"/>
                          <a:cs typeface="Times New Roman"/>
                        </a:rPr>
                        <a:t>221.</a:t>
                      </a:r>
                      <a:r>
                        <a:rPr sz="1800" b="1" spc="-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+mn-lt"/>
                          <a:cs typeface="Times New Roman"/>
                        </a:rPr>
                        <a:t>0.</a:t>
                      </a:r>
                      <a:r>
                        <a:rPr sz="1800" b="1" spc="-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+mn-lt"/>
                          <a:cs typeface="Times New Roman"/>
                        </a:rPr>
                        <a:t>0.</a:t>
                      </a:r>
                      <a:r>
                        <a:rPr sz="1800" b="1" spc="-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1800" b="1" dirty="0">
                          <a:latin typeface="+mn-lt"/>
                          <a:cs typeface="Times New Roman"/>
                        </a:rPr>
                        <a:t>0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>
                          <a:latin typeface="+mn-lt"/>
                          <a:cs typeface="Times New Roman"/>
                        </a:rPr>
                        <a:t>C</a:t>
                      </a:r>
                      <a:endParaRPr lang="es-MX"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>
                          <a:latin typeface="+mn-lt"/>
                          <a:cs typeface="Times New Roman"/>
                        </a:rPr>
                        <a:t>255.255.255.0</a:t>
                      </a:r>
                      <a:endParaRPr lang="es-MX" sz="18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800" dirty="0">
                          <a:latin typeface="+mn-lt"/>
                          <a:cs typeface="Times New Roman"/>
                        </a:rPr>
                        <a:t>221.0.0.255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5" name="Rectángulo 4">
            <a:extLst>
              <a:ext uri="{FF2B5EF4-FFF2-40B4-BE49-F238E27FC236}">
                <a16:creationId xmlns:a16="http://schemas.microsoft.com/office/drawing/2014/main" id="{A102CBEE-F02E-4957-B590-6BC6FD09D189}"/>
              </a:ext>
            </a:extLst>
          </p:cNvPr>
          <p:cNvSpPr/>
          <p:nvPr/>
        </p:nvSpPr>
        <p:spPr>
          <a:xfrm>
            <a:off x="688338" y="5949280"/>
            <a:ext cx="762254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lang="es-ES" b="1" spc="-5" dirty="0">
                <a:cs typeface="Times New Roman"/>
              </a:rPr>
              <a:t>NOTA: </a:t>
            </a:r>
            <a:r>
              <a:rPr lang="es-ES" spc="-5" dirty="0">
                <a:cs typeface="Times New Roman"/>
              </a:rPr>
              <a:t>Identificar el valor de la red o clase (los bits de reserva se copian)</a:t>
            </a:r>
            <a:endParaRPr lang="es-ES" dirty="0">
              <a:cs typeface="Times New Roman"/>
            </a:endParaRPr>
          </a:p>
        </p:txBody>
      </p:sp>
    </p:spTree>
    <p:extLst>
      <p:ext uri="{BB962C8B-B14F-4D97-AF65-F5344CB8AC3E}">
        <p14:creationId xmlns:p14="http://schemas.microsoft.com/office/powerpoint/2010/main" val="1603523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5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9512" y="65764"/>
            <a:ext cx="8229600" cy="682622"/>
          </a:xfrm>
          <a:prstGeom prst="rect">
            <a:avLst/>
          </a:prstGeom>
        </p:spPr>
        <p:txBody>
          <a:bodyPr vert="horz" wrap="square" lIns="0" tIns="188340" rIns="0" bIns="0" rtlCol="0">
            <a:spAutoFit/>
          </a:bodyPr>
          <a:lstStyle/>
          <a:p>
            <a:pPr marL="1018540">
              <a:lnSpc>
                <a:spcPct val="100000"/>
              </a:lnSpc>
            </a:pPr>
            <a:r>
              <a:rPr lang="es-ES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Subredes y máscaras de </a:t>
            </a:r>
            <a:r>
              <a:rPr lang="es-ES" sz="3200" b="1" dirty="0" err="1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subr</a:t>
            </a:r>
            <a:r>
              <a:rPr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ed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5576" y="1124744"/>
            <a:ext cx="7653536" cy="369332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tabLst>
                <a:tab pos="4553585" algn="l"/>
              </a:tabLst>
            </a:pPr>
            <a:r>
              <a:rPr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</a:t>
            </a:r>
            <a:r>
              <a:rPr sz="2400" b="1" spc="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0</a:t>
            </a:r>
            <a:r>
              <a:rPr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2400" b="1" spc="-2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sz="2400" b="1" spc="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5</a:t>
            </a:r>
            <a:r>
              <a:rPr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2400" b="1" spc="-2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9</a:t>
            </a:r>
            <a:r>
              <a:rPr sz="2400" b="1" spc="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6</a:t>
            </a:r>
            <a:r>
              <a:rPr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r>
              <a:rPr sz="2400" b="1" spc="-2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ES" sz="2400" b="1" spc="-20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r>
              <a:rPr lang="es-ES"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 </a:t>
            </a:r>
            <a:r>
              <a:rPr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/</a:t>
            </a:r>
            <a:r>
              <a:rPr sz="2400" b="1" spc="-15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sz="2400" b="1" dirty="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22</a:t>
            </a:r>
            <a:endParaRPr sz="2400" dirty="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E8EB963D-A592-29D6-881E-30FF0311455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63722921"/>
              </p:ext>
            </p:extLst>
          </p:nvPr>
        </p:nvGraphicFramePr>
        <p:xfrm>
          <a:off x="704256" y="1988840"/>
          <a:ext cx="7704856" cy="3888433"/>
        </p:xfrm>
        <a:graphic>
          <a:graphicData uri="http://schemas.openxmlformats.org/drawingml/2006/table">
            <a:tbl>
              <a:tblPr firstRow="1" firstCol="1" lastRow="1" lastCol="1" bandRow="1" bandCol="1">
                <a:tableStyleId>{5C22544A-7EE6-4342-B048-85BDC9FD1C3A}</a:tableStyleId>
              </a:tblPr>
              <a:tblGrid>
                <a:gridCol w="1537546">
                  <a:extLst>
                    <a:ext uri="{9D8B030D-6E8A-4147-A177-3AD203B41FA5}">
                      <a16:colId xmlns:a16="http://schemas.microsoft.com/office/drawing/2014/main" val="1181902816"/>
                    </a:ext>
                  </a:extLst>
                </a:gridCol>
                <a:gridCol w="632889">
                  <a:extLst>
                    <a:ext uri="{9D8B030D-6E8A-4147-A177-3AD203B41FA5}">
                      <a16:colId xmlns:a16="http://schemas.microsoft.com/office/drawing/2014/main" val="2465227403"/>
                    </a:ext>
                  </a:extLst>
                </a:gridCol>
                <a:gridCol w="1523399">
                  <a:extLst>
                    <a:ext uri="{9D8B030D-6E8A-4147-A177-3AD203B41FA5}">
                      <a16:colId xmlns:a16="http://schemas.microsoft.com/office/drawing/2014/main" val="714501495"/>
                    </a:ext>
                  </a:extLst>
                </a:gridCol>
                <a:gridCol w="2005139">
                  <a:extLst>
                    <a:ext uri="{9D8B030D-6E8A-4147-A177-3AD203B41FA5}">
                      <a16:colId xmlns:a16="http://schemas.microsoft.com/office/drawing/2014/main" val="3006381684"/>
                    </a:ext>
                  </a:extLst>
                </a:gridCol>
                <a:gridCol w="2005883">
                  <a:extLst>
                    <a:ext uri="{9D8B030D-6E8A-4147-A177-3AD203B41FA5}">
                      <a16:colId xmlns:a16="http://schemas.microsoft.com/office/drawing/2014/main" val="13027428"/>
                    </a:ext>
                  </a:extLst>
                </a:gridCol>
              </a:tblGrid>
              <a:tr h="915409">
                <a:tc>
                  <a:txBody>
                    <a:bodyPr/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lang="en-US" sz="1400" spc="-10" dirty="0" err="1">
                          <a:effectLst/>
                        </a:rPr>
                        <a:t>Dirección</a:t>
                      </a:r>
                      <a:r>
                        <a:rPr lang="en-US" sz="1400" spc="-10" dirty="0">
                          <a:effectLst/>
                        </a:rPr>
                        <a:t> IP</a:t>
                      </a:r>
                      <a:r>
                        <a:rPr lang="en-US" sz="1400" dirty="0">
                          <a:effectLst/>
                        </a:rPr>
                        <a:t> / </a:t>
                      </a:r>
                      <a:r>
                        <a:rPr lang="en-US" sz="1400" spc="-5" dirty="0" err="1">
                          <a:effectLst/>
                        </a:rPr>
                        <a:t>Prefijo</a:t>
                      </a:r>
                      <a:endParaRPr lang="es-MX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ts val="1335"/>
                        </a:lnSpc>
                      </a:pPr>
                      <a:r>
                        <a:rPr lang="en-US" sz="1400" dirty="0" err="1">
                          <a:effectLst/>
                        </a:rPr>
                        <a:t>Clase</a:t>
                      </a:r>
                      <a:endParaRPr lang="es-MX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pc="-5" dirty="0" err="1">
                          <a:effectLst/>
                        </a:rPr>
                        <a:t>Máscara</a:t>
                      </a:r>
                      <a:r>
                        <a:rPr lang="en-US" sz="1400" spc="-5" dirty="0">
                          <a:effectLst/>
                        </a:rPr>
                        <a:t> </a:t>
                      </a:r>
                      <a:r>
                        <a:rPr lang="en-US" sz="1400" dirty="0">
                          <a:effectLst/>
                        </a:rPr>
                        <a:t>de</a:t>
                      </a:r>
                      <a:r>
                        <a:rPr lang="en-US" sz="1400" spc="-5" dirty="0">
                          <a:effectLst/>
                        </a:rPr>
                        <a:t> </a:t>
                      </a:r>
                      <a:r>
                        <a:rPr lang="en-US" sz="1400" spc="-5" dirty="0" err="1">
                          <a:effectLst/>
                        </a:rPr>
                        <a:t>subred</a:t>
                      </a:r>
                      <a:endParaRPr lang="es-MX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spc="-5" dirty="0" err="1">
                          <a:effectLst/>
                        </a:rPr>
                        <a:t>Dirección</a:t>
                      </a:r>
                      <a:r>
                        <a:rPr lang="en-US" sz="1400" spc="-5" dirty="0">
                          <a:effectLst/>
                        </a:rPr>
                        <a:t> de </a:t>
                      </a:r>
                      <a:r>
                        <a:rPr lang="en-US" sz="1400" spc="-5" dirty="0" err="1">
                          <a:effectLst/>
                        </a:rPr>
                        <a:t>subred</a:t>
                      </a:r>
                      <a:endParaRPr lang="es-MX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R="135890" algn="ctr">
                        <a:tabLst>
                          <a:tab pos="1082040" algn="l"/>
                        </a:tabLst>
                      </a:pPr>
                      <a:r>
                        <a:rPr lang="en-US" sz="1400" spc="-5" dirty="0" err="1">
                          <a:effectLst/>
                        </a:rPr>
                        <a:t>Dirección</a:t>
                      </a:r>
                      <a:r>
                        <a:rPr lang="en-US" sz="1400" dirty="0">
                          <a:effectLst/>
                        </a:rPr>
                        <a:t> de b</a:t>
                      </a:r>
                      <a:r>
                        <a:rPr lang="en-US" sz="1400" spc="-5" dirty="0">
                          <a:effectLst/>
                        </a:rPr>
                        <a:t>roadcast</a:t>
                      </a:r>
                      <a:endParaRPr lang="es-MX" sz="14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extLst>
                  <a:ext uri="{0D108BD9-81ED-4DB2-BD59-A6C34878D82A}">
                    <a16:rowId xmlns:a16="http://schemas.microsoft.com/office/drawing/2014/main" val="2336251098"/>
                  </a:ext>
                </a:extLst>
              </a:tr>
              <a:tr h="1471721">
                <a:tc>
                  <a:txBody>
                    <a:bodyPr/>
                    <a:lstStyle/>
                    <a:p>
                      <a:pPr algn="ctr"/>
                      <a:r>
                        <a:rPr lang="es-MX" sz="1600" dirty="0">
                          <a:effectLst/>
                        </a:rPr>
                        <a:t>182.25.1.194 /27</a:t>
                      </a:r>
                      <a:endParaRPr lang="es-MX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lang="en-US" sz="1200" dirty="0">
                          <a:effectLst/>
                        </a:rPr>
                        <a:t> </a:t>
                      </a:r>
                      <a:endParaRPr lang="es-MX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B</a:t>
                      </a:r>
                      <a:endParaRPr lang="es-MX" sz="1400" b="1" dirty="0"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255.255.255.</a:t>
                      </a:r>
                      <a:r>
                        <a:rPr lang="en-US" sz="1400" b="1" dirty="0">
                          <a:effectLst/>
                          <a:highlight>
                            <a:srgbClr val="FFFF00"/>
                          </a:highlight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224</a:t>
                      </a:r>
                      <a:endParaRPr lang="es-MX" sz="1400" b="1" dirty="0">
                        <a:effectLst/>
                        <a:highlight>
                          <a:srgbClr val="FFFF00"/>
                        </a:highlight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182.25.1.192</a:t>
                      </a:r>
                    </a:p>
                    <a:p>
                      <a:pPr algn="ctr"/>
                      <a:r>
                        <a:rPr lang="es-MX" sz="14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1110 0000</a:t>
                      </a:r>
                    </a:p>
                    <a:p>
                      <a:pPr algn="ctr"/>
                      <a:r>
                        <a:rPr lang="es-MX" sz="14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1100 0100</a:t>
                      </a:r>
                    </a:p>
                    <a:p>
                      <a:pPr algn="ctr"/>
                      <a:r>
                        <a:rPr lang="es-MX" sz="14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------------------</a:t>
                      </a:r>
                    </a:p>
                    <a:p>
                      <a:pPr algn="ctr"/>
                      <a:r>
                        <a:rPr lang="es-MX" sz="1400" b="1" dirty="0"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1100 0000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182.25.1.192+31</a:t>
                      </a:r>
                    </a:p>
                    <a:p>
                      <a:pPr algn="ctr"/>
                      <a:r>
                        <a:rPr lang="es-MX" sz="14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        .255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5770447"/>
                  </a:ext>
                </a:extLst>
              </a:tr>
              <a:tr h="1501303">
                <a:tc>
                  <a:txBody>
                    <a:bodyPr/>
                    <a:lstStyle/>
                    <a:p>
                      <a:pPr algn="ctr">
                        <a:spcBef>
                          <a:spcPts val="50"/>
                        </a:spcBef>
                      </a:pPr>
                      <a:r>
                        <a:rPr lang="en-US" sz="1200" dirty="0">
                          <a:effectLst/>
                        </a:rPr>
                        <a:t> </a:t>
                      </a:r>
                      <a:endParaRPr lang="es-MX" sz="1200" dirty="0">
                        <a:effectLst/>
                      </a:endParaRPr>
                    </a:p>
                    <a:p>
                      <a:pPr algn="ctr"/>
                      <a:r>
                        <a:rPr lang="es-MX" sz="1600" b="1" kern="1200" dirty="0">
                          <a:solidFill>
                            <a:schemeClr val="lt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8.129.2.3 /9</a:t>
                      </a:r>
                      <a:endParaRPr lang="es-MX" sz="1200" dirty="0">
                        <a:effectLst/>
                        <a:latin typeface="Calibri" panose="020F0502020204030204" pitchFamily="34" charset="0"/>
                        <a:ea typeface="Calibri" panose="020F0502020204030204" pitchFamily="34" charset="0"/>
                        <a:cs typeface="Times New Roman" panose="02020603050405020304" pitchFamily="18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A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cs typeface="Arial" panose="020B0604020202020204" pitchFamily="34" charset="0"/>
                        </a:rPr>
                        <a:t>255.128.0.0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Calibri" panose="020F0502020204030204" pitchFamily="34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1" dirty="0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8.128.0.0</a:t>
                      </a: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1400" b="1">
                          <a:solidFill>
                            <a:schemeClr val="tx1"/>
                          </a:solidFill>
                          <a:effectLst/>
                          <a:latin typeface="Arial" panose="020B0604020202020204" pitchFamily="34" charset="0"/>
                          <a:ea typeface="Times New Roman" panose="02020603050405020304" pitchFamily="18" charset="0"/>
                          <a:cs typeface="Arial" panose="020B0604020202020204" pitchFamily="34" charset="0"/>
                        </a:rPr>
                        <a:t>8.255.255.255</a:t>
                      </a:r>
                      <a:endParaRPr lang="es-MX" sz="1400" b="1" dirty="0">
                        <a:solidFill>
                          <a:schemeClr val="tx1"/>
                        </a:solidFill>
                        <a:effectLst/>
                        <a:latin typeface="Arial" panose="020B0604020202020204" pitchFamily="34" charset="0"/>
                        <a:ea typeface="Times New Roman" panose="02020603050405020304" pitchFamily="18" charset="0"/>
                        <a:cs typeface="Arial" panose="020B0604020202020204" pitchFamily="34" charset="0"/>
                      </a:endParaRPr>
                    </a:p>
                  </a:txBody>
                  <a:tcPr marL="0" marR="0" marT="0" marB="0"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4122934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1527219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783431" y="1268760"/>
            <a:ext cx="7769225" cy="615553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 algn="just">
              <a:lnSpc>
                <a:spcPct val="100000"/>
              </a:lnSpc>
            </a:pPr>
            <a:r>
              <a:rPr sz="2000" dirty="0">
                <a:cs typeface="Times New Roman"/>
              </a:rPr>
              <a:t>Con </a:t>
            </a:r>
            <a:r>
              <a:rPr sz="2000" spc="10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base </a:t>
            </a:r>
            <a:r>
              <a:rPr sz="2000" spc="114" dirty="0">
                <a:cs typeface="Times New Roman"/>
              </a:rPr>
              <a:t> </a:t>
            </a:r>
            <a:r>
              <a:rPr sz="2000" spc="-10" dirty="0">
                <a:cs typeface="Times New Roman"/>
              </a:rPr>
              <a:t>e</a:t>
            </a:r>
            <a:r>
              <a:rPr sz="2000" dirty="0">
                <a:cs typeface="Times New Roman"/>
              </a:rPr>
              <a:t>n </a:t>
            </a:r>
            <a:r>
              <a:rPr sz="2000" spc="10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la </a:t>
            </a:r>
            <a:r>
              <a:rPr sz="2000" spc="9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i</a:t>
            </a:r>
            <a:r>
              <a:rPr sz="2000" spc="5" dirty="0">
                <a:cs typeface="Times New Roman"/>
              </a:rPr>
              <a:t>n</a:t>
            </a:r>
            <a:r>
              <a:rPr sz="2000" dirty="0">
                <a:cs typeface="Times New Roman"/>
              </a:rPr>
              <a:t>formación </a:t>
            </a:r>
            <a:r>
              <a:rPr sz="2000" spc="9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de </a:t>
            </a:r>
            <a:r>
              <a:rPr sz="2000" spc="10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la </a:t>
            </a:r>
            <a:r>
              <a:rPr sz="2000" spc="9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IP </a:t>
            </a:r>
            <a:r>
              <a:rPr sz="2000" spc="2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y </a:t>
            </a:r>
            <a:r>
              <a:rPr sz="2000" spc="10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el </a:t>
            </a:r>
            <a:r>
              <a:rPr sz="2000" spc="1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pre</a:t>
            </a:r>
            <a:r>
              <a:rPr sz="2000" spc="-15" dirty="0">
                <a:cs typeface="Times New Roman"/>
              </a:rPr>
              <a:t>f</a:t>
            </a:r>
            <a:r>
              <a:rPr sz="2000" dirty="0">
                <a:cs typeface="Times New Roman"/>
              </a:rPr>
              <a:t>i</a:t>
            </a:r>
            <a:r>
              <a:rPr sz="2000" spc="5" dirty="0">
                <a:cs typeface="Times New Roman"/>
              </a:rPr>
              <a:t>j</a:t>
            </a:r>
            <a:r>
              <a:rPr sz="2000" dirty="0">
                <a:cs typeface="Times New Roman"/>
              </a:rPr>
              <a:t>o </a:t>
            </a:r>
            <a:r>
              <a:rPr sz="2000" spc="110" dirty="0">
                <a:cs typeface="Times New Roman"/>
              </a:rPr>
              <a:t> </a:t>
            </a:r>
            <a:r>
              <a:rPr sz="2000" spc="-15" dirty="0">
                <a:cs typeface="Times New Roman"/>
              </a:rPr>
              <a:t>d</a:t>
            </a:r>
            <a:r>
              <a:rPr sz="2000" dirty="0">
                <a:cs typeface="Times New Roman"/>
              </a:rPr>
              <a:t>e </a:t>
            </a:r>
            <a:r>
              <a:rPr sz="2000" spc="11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red, </a:t>
            </a:r>
            <a:r>
              <a:rPr sz="2000" dirty="0" err="1">
                <a:cs typeface="Times New Roman"/>
              </a:rPr>
              <a:t>deter</a:t>
            </a:r>
            <a:r>
              <a:rPr sz="2000" spc="-15" dirty="0" err="1">
                <a:cs typeface="Times New Roman"/>
              </a:rPr>
              <a:t>m</a:t>
            </a:r>
            <a:r>
              <a:rPr sz="2000" dirty="0" err="1">
                <a:cs typeface="Times New Roman"/>
              </a:rPr>
              <a:t>in</a:t>
            </a:r>
            <a:r>
              <a:rPr sz="2000" spc="-10" dirty="0" err="1">
                <a:cs typeface="Times New Roman"/>
              </a:rPr>
              <a:t>a</a:t>
            </a:r>
            <a:r>
              <a:rPr sz="2000" spc="-220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la </a:t>
            </a:r>
            <a:r>
              <a:rPr sz="2000" spc="-20" dirty="0">
                <a:cs typeface="Times New Roman"/>
              </a:rPr>
              <a:t>m</a:t>
            </a:r>
            <a:r>
              <a:rPr lang="es-ES" sz="2000" spc="-20" dirty="0">
                <a:cs typeface="Times New Roman"/>
              </a:rPr>
              <a:t>á</a:t>
            </a:r>
            <a:r>
              <a:rPr sz="2000" dirty="0">
                <a:cs typeface="Times New Roman"/>
              </a:rPr>
              <a:t>sc</a:t>
            </a:r>
            <a:r>
              <a:rPr sz="2000" spc="5" dirty="0">
                <a:cs typeface="Times New Roman"/>
              </a:rPr>
              <a:t>a</a:t>
            </a:r>
            <a:r>
              <a:rPr sz="2000" dirty="0">
                <a:cs typeface="Times New Roman"/>
              </a:rPr>
              <a:t>r</a:t>
            </a:r>
            <a:r>
              <a:rPr lang="es-ES" sz="2000" dirty="0">
                <a:cs typeface="Times New Roman"/>
              </a:rPr>
              <a:t>a</a:t>
            </a:r>
            <a:r>
              <a:rPr sz="2000" spc="-5" dirty="0">
                <a:cs typeface="Times New Roman"/>
              </a:rPr>
              <a:t> </a:t>
            </a:r>
            <a:r>
              <a:rPr sz="2000" dirty="0">
                <a:cs typeface="Times New Roman"/>
              </a:rPr>
              <a:t>de subre</a:t>
            </a:r>
            <a:r>
              <a:rPr sz="2000" spc="5" dirty="0">
                <a:cs typeface="Times New Roman"/>
              </a:rPr>
              <a:t>d</a:t>
            </a:r>
            <a:r>
              <a:rPr sz="2000" dirty="0">
                <a:cs typeface="Times New Roman"/>
              </a:rPr>
              <a:t>.</a:t>
            </a:r>
          </a:p>
        </p:txBody>
      </p:sp>
      <p:graphicFrame>
        <p:nvGraphicFramePr>
          <p:cNvPr id="5" name="object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7345843"/>
              </p:ext>
            </p:extLst>
          </p:nvPr>
        </p:nvGraphicFramePr>
        <p:xfrm>
          <a:off x="179512" y="2218089"/>
          <a:ext cx="5328592" cy="2948177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232922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9936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84545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Dir</a:t>
                      </a:r>
                      <a:r>
                        <a:rPr sz="2000" b="1" spc="-50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IP</a:t>
                      </a:r>
                      <a:r>
                        <a:rPr sz="2000" b="1" spc="-135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/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p</a:t>
                      </a:r>
                      <a:r>
                        <a:rPr sz="2000" b="1" spc="-50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r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ef</a:t>
                      </a:r>
                      <a:r>
                        <a:rPr sz="2000" b="1" spc="5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i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jo </a:t>
                      </a:r>
                      <a:r>
                        <a:rPr sz="2000" b="1" spc="-55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r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ed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>
                      <a:solidFill>
                        <a:srgbClr val="FFFFFF"/>
                      </a:solidFill>
                      <a:prstDash val="soli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85725" algn="ctr">
                        <a:lnSpc>
                          <a:spcPct val="100000"/>
                        </a:lnSpc>
                      </a:pPr>
                      <a:r>
                        <a:rPr sz="20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Máscara</a:t>
                      </a:r>
                      <a:r>
                        <a:rPr sz="2000" b="1" spc="-10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de sub</a:t>
                      </a:r>
                      <a:r>
                        <a:rPr sz="2000" b="1" spc="-50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r</a:t>
                      </a:r>
                      <a:r>
                        <a:rPr sz="2000" b="1" dirty="0">
                          <a:solidFill>
                            <a:srgbClr val="FFFFFF"/>
                          </a:solidFill>
                          <a:latin typeface="+mn-lt"/>
                          <a:cs typeface="Times New Roman"/>
                        </a:rPr>
                        <a:t>ed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4">
                        <a:lumMod val="7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40908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  <a:tabLst>
                          <a:tab pos="1761489" algn="l"/>
                          <a:tab pos="1998345" algn="l"/>
                        </a:tabLst>
                      </a:pPr>
                      <a:r>
                        <a:rPr sz="2400" dirty="0">
                          <a:latin typeface="+mn-lt"/>
                          <a:cs typeface="Times New Roman"/>
                        </a:rPr>
                        <a:t>135. 21. 0. 0	/	19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2000">
                          <a:latin typeface="+mn-lt"/>
                          <a:cs typeface="Times New Roman"/>
                        </a:rPr>
                        <a:t>255.255.1110 0000.0</a:t>
                      </a:r>
                      <a:endParaRPr lang="es-ES" sz="2000" dirty="0">
                        <a:latin typeface="+mn-lt"/>
                        <a:cs typeface="Times New Roman"/>
                      </a:endParaRPr>
                    </a:p>
                    <a:p>
                      <a:pPr algn="ctr"/>
                      <a:r>
                        <a:rPr lang="es-ES" sz="2000" dirty="0">
                          <a:latin typeface="+mn-lt"/>
                          <a:cs typeface="Times New Roman"/>
                        </a:rPr>
                        <a:t>255.255.224.0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381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640908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  <a:tabLst>
                          <a:tab pos="1304290" algn="l"/>
                          <a:tab pos="1540510" algn="l"/>
                        </a:tabLst>
                      </a:pPr>
                      <a:r>
                        <a:rPr sz="2400" dirty="0">
                          <a:latin typeface="+mn-lt"/>
                          <a:cs typeface="Times New Roman"/>
                        </a:rPr>
                        <a:t>1. 0. 0. 0	/	26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latin typeface="+mn-lt"/>
                          <a:cs typeface="Times New Roman"/>
                        </a:rPr>
                        <a:t>255.255.255.192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40908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  <a:tabLst>
                          <a:tab pos="1608455" algn="l"/>
                          <a:tab pos="1844675" algn="l"/>
                        </a:tabLst>
                      </a:pPr>
                      <a:r>
                        <a:rPr sz="2400" spc="-5" dirty="0">
                          <a:latin typeface="+mn-lt"/>
                          <a:cs typeface="Times New Roman"/>
                        </a:rPr>
                        <a:t>145</a:t>
                      </a:r>
                      <a:r>
                        <a:rPr sz="2400" dirty="0">
                          <a:latin typeface="+mn-lt"/>
                          <a:cs typeface="Times New Roman"/>
                        </a:rPr>
                        <a:t>.</a:t>
                      </a:r>
                      <a:r>
                        <a:rPr sz="2400" spc="-5" dirty="0">
                          <a:latin typeface="+mn-lt"/>
                          <a:cs typeface="Times New Roman"/>
                        </a:rPr>
                        <a:t> 0</a:t>
                      </a:r>
                      <a:r>
                        <a:rPr sz="2400" dirty="0">
                          <a:latin typeface="+mn-lt"/>
                          <a:cs typeface="Times New Roman"/>
                        </a:rPr>
                        <a:t>.</a:t>
                      </a:r>
                      <a:r>
                        <a:rPr sz="2400" spc="-5" dirty="0">
                          <a:latin typeface="+mn-lt"/>
                          <a:cs typeface="Times New Roman"/>
                        </a:rPr>
                        <a:t> 0</a:t>
                      </a:r>
                      <a:r>
                        <a:rPr sz="2400" dirty="0">
                          <a:latin typeface="+mn-lt"/>
                          <a:cs typeface="Times New Roman"/>
                        </a:rPr>
                        <a:t>.</a:t>
                      </a:r>
                      <a:r>
                        <a:rPr sz="2400" spc="-5" dirty="0">
                          <a:latin typeface="+mn-lt"/>
                          <a:cs typeface="Times New Roman"/>
                        </a:rPr>
                        <a:t> </a:t>
                      </a:r>
                      <a:r>
                        <a:rPr sz="2400" dirty="0">
                          <a:latin typeface="+mn-lt"/>
                          <a:cs typeface="Times New Roman"/>
                        </a:rPr>
                        <a:t>0	/	</a:t>
                      </a:r>
                      <a:r>
                        <a:rPr sz="2400" spc="-5" dirty="0">
                          <a:latin typeface="+mn-lt"/>
                          <a:cs typeface="Times New Roman"/>
                        </a:rPr>
                        <a:t>22</a:t>
                      </a:r>
                      <a:endParaRPr sz="24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CDCDEB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latin typeface="+mn-lt"/>
                          <a:cs typeface="Times New Roman"/>
                        </a:rPr>
                        <a:t>255.255.252.0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DCDE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640908">
                <a:tc>
                  <a:txBody>
                    <a:bodyPr/>
                    <a:lstStyle/>
                    <a:p>
                      <a:pPr marL="85090" algn="ctr">
                        <a:lnSpc>
                          <a:spcPct val="100000"/>
                        </a:lnSpc>
                        <a:tabLst>
                          <a:tab pos="1456690" algn="l"/>
                          <a:tab pos="1692910" algn="l"/>
                        </a:tabLst>
                      </a:pPr>
                      <a:r>
                        <a:rPr sz="2400" dirty="0">
                          <a:latin typeface="+mn-lt"/>
                          <a:cs typeface="Times New Roman"/>
                        </a:rPr>
                        <a:t>10. 0. 0. 0	/	13</a:t>
                      </a:r>
                    </a:p>
                  </a:txBody>
                  <a:tcPr marL="0" marR="0" marT="0" marB="0" anchor="ctr">
                    <a:lnL w="12700">
                      <a:solidFill>
                        <a:srgbClr val="FFFFFF"/>
                      </a:solidFill>
                      <a:prstDash val="soli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>
                      <a:solidFill>
                        <a:srgbClr val="FFFFFF"/>
                      </a:solidFill>
                      <a:prstDash val="soli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sz="2000" dirty="0">
                          <a:latin typeface="+mn-lt"/>
                          <a:cs typeface="Times New Roman"/>
                        </a:rPr>
                        <a:t>255.248.0.0</a:t>
                      </a:r>
                      <a:endParaRPr sz="2000" dirty="0">
                        <a:latin typeface="+mn-lt"/>
                        <a:cs typeface="Times New Roman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>
                      <a:solidFill>
                        <a:srgbClr val="FFFFFF"/>
                      </a:solidFill>
                      <a:prstDash val="soli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>
                      <a:solidFill>
                        <a:srgbClr val="FFFFFF"/>
                      </a:solidFill>
                      <a:prstDash val="solid"/>
                    </a:lnB>
                    <a:solidFill>
                      <a:srgbClr val="E8E8F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8" name="Rectangle 2">
            <a:extLst>
              <a:ext uri="{FF2B5EF4-FFF2-40B4-BE49-F238E27FC236}">
                <a16:creationId xmlns:a16="http://schemas.microsoft.com/office/drawing/2014/main" id="{9421923F-0621-4DC4-B128-DCFD643E555F}"/>
              </a:ext>
            </a:extLst>
          </p:cNvPr>
          <p:cNvSpPr txBox="1">
            <a:spLocks noChangeArrowheads="1"/>
          </p:cNvSpPr>
          <p:nvPr/>
        </p:nvSpPr>
        <p:spPr>
          <a:xfrm>
            <a:off x="72008" y="53752"/>
            <a:ext cx="8964488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Máscaras de subred</a:t>
            </a:r>
            <a:endParaRPr lang="es-ES_tradnl" sz="2400" b="1" dirty="0">
              <a:solidFill>
                <a:schemeClr val="accent4">
                  <a:lumMod val="50000"/>
                </a:schemeClr>
              </a:solidFill>
              <a:effectLst>
                <a:outerShdw blurRad="38100" dist="38100" dir="2700000" algn="tl">
                  <a:srgbClr val="C0C0C0"/>
                </a:outerShdw>
              </a:effectLst>
              <a:latin typeface="Dom Casual" charset="0"/>
            </a:endParaRPr>
          </a:p>
        </p:txBody>
      </p:sp>
      <p:pic>
        <p:nvPicPr>
          <p:cNvPr id="6" name="Imagen 5">
            <a:extLst>
              <a:ext uri="{FF2B5EF4-FFF2-40B4-BE49-F238E27FC236}">
                <a16:creationId xmlns:a16="http://schemas.microsoft.com/office/drawing/2014/main" id="{06465F33-5440-454B-B705-93ED42C69C0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8431" y="2188164"/>
            <a:ext cx="3596178" cy="19812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64313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3188</TotalTime>
  <Words>346</Words>
  <Application>Microsoft Office PowerPoint</Application>
  <PresentationFormat>Presentación en pantalla (4:3)</PresentationFormat>
  <Paragraphs>79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9" baseType="lpstr">
      <vt:lpstr>Arial</vt:lpstr>
      <vt:lpstr>Calibri</vt:lpstr>
      <vt:lpstr>Dom Casual</vt:lpstr>
      <vt:lpstr>Times New Roman</vt:lpstr>
      <vt:lpstr>Tema de Office</vt:lpstr>
      <vt:lpstr>Presentación de PowerPoint</vt:lpstr>
      <vt:lpstr>Direcciones de broadcast</vt:lpstr>
      <vt:lpstr>Subredes y máscaras de subred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152</cp:revision>
  <dcterms:created xsi:type="dcterms:W3CDTF">2013-06-11T22:32:36Z</dcterms:created>
  <dcterms:modified xsi:type="dcterms:W3CDTF">2026-08-10T00:58:50Z</dcterms:modified>
</cp:coreProperties>
</file>